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77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LSTM vs Traditional Models for Time-Series Forecasting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Varsha Pamisetty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0520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to Time-Series Forecasting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data, collected sequentially over time, forms the backbone of crucial predictions across diverse fields.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7550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data is collected over time, reflecting patterns and trends inherent to various phenomena.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80604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 predicts future values based on these historical observations.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8570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are ubiquitous: predicting stock market fluctuations, forecasting weather patterns, optimizing retail sales, and managing patient health in healthcare.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01271"/>
            <a:ext cx="1000148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Time-Series Forecasting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4497824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forecasting involves using past data points to predict future values. This complex task is typically broken down by identifying three core components: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5429845"/>
            <a:ext cx="4203978" cy="1991916"/>
          </a:xfrm>
          <a:prstGeom prst="roundRect">
            <a:avLst>
              <a:gd name="adj" fmla="val 734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5429845"/>
            <a:ext cx="121920" cy="1991916"/>
          </a:xfrm>
          <a:prstGeom prst="roundRect">
            <a:avLst>
              <a:gd name="adj" fmla="val 26512"/>
            </a:avLst>
          </a:prstGeom>
          <a:solidFill>
            <a:srgbClr val="FDC4C4"/>
          </a:solidFill>
          <a:ln/>
        </p:spPr>
      </p:sp>
      <p:sp>
        <p:nvSpPr>
          <p:cNvPr id="7" name="Text 4"/>
          <p:cNvSpPr/>
          <p:nvPr/>
        </p:nvSpPr>
        <p:spPr>
          <a:xfrm>
            <a:off x="1131094" y="567570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Trend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31094" y="6141482"/>
            <a:ext cx="362081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long-term increase or decrease in the data.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213152" y="5429845"/>
            <a:ext cx="4203978" cy="1991916"/>
          </a:xfrm>
          <a:prstGeom prst="roundRect">
            <a:avLst>
              <a:gd name="adj" fmla="val 734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2672" y="5429845"/>
            <a:ext cx="121920" cy="1991916"/>
          </a:xfrm>
          <a:prstGeom prst="roundRect">
            <a:avLst>
              <a:gd name="adj" fmla="val 26512"/>
            </a:avLst>
          </a:prstGeom>
          <a:solidFill>
            <a:srgbClr val="FDC4C4"/>
          </a:solidFill>
          <a:ln/>
        </p:spPr>
      </p:sp>
      <p:sp>
        <p:nvSpPr>
          <p:cNvPr id="11" name="Text 8"/>
          <p:cNvSpPr/>
          <p:nvPr/>
        </p:nvSpPr>
        <p:spPr>
          <a:xfrm>
            <a:off x="5550456" y="567570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Seasonality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550456" y="6141482"/>
            <a:ext cx="36208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Repetitive patterns that occur at fixed intervals (e.g., daily, weekly, yearly).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632513" y="5429845"/>
            <a:ext cx="4203978" cy="1991916"/>
          </a:xfrm>
          <a:prstGeom prst="roundRect">
            <a:avLst>
              <a:gd name="adj" fmla="val 734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2033" y="5429845"/>
            <a:ext cx="121920" cy="1991916"/>
          </a:xfrm>
          <a:prstGeom prst="roundRect">
            <a:avLst>
              <a:gd name="adj" fmla="val 26512"/>
            </a:avLst>
          </a:prstGeom>
          <a:solidFill>
            <a:srgbClr val="FDC4C4"/>
          </a:solidFill>
          <a:ln/>
        </p:spPr>
      </p:sp>
      <p:sp>
        <p:nvSpPr>
          <p:cNvPr id="15" name="Text 12"/>
          <p:cNvSpPr/>
          <p:nvPr/>
        </p:nvSpPr>
        <p:spPr>
          <a:xfrm>
            <a:off x="9969818" y="567570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Noise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969818" y="6141482"/>
            <a:ext cx="36208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variations or irregularities in the data that cannot be explained by trend or seasonality.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4756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Time-Series Models: The Foundation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2135148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advent of deep learning, several statistical models served as the workhorses for time-series forecasting. These models provide a robust foundation for understanding temporal data.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3790" y="2821900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992267" y="314932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587579" y="298061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 (AutoRegressive)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87579" y="3323868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where the future value is a linear combination of past values.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3790" y="3933230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434348"/>
          </a:solidFill>
          <a:ln/>
        </p:spPr>
      </p:sp>
      <p:sp>
        <p:nvSpPr>
          <p:cNvPr id="10" name="Text 7"/>
          <p:cNvSpPr/>
          <p:nvPr/>
        </p:nvSpPr>
        <p:spPr>
          <a:xfrm>
            <a:off x="992267" y="426065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587579" y="4091940"/>
            <a:ext cx="20007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 (Moving Average)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587579" y="4435197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where the future value is a linear combination of past forecast errors.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3790" y="5044559"/>
            <a:ext cx="635079" cy="1168837"/>
          </a:xfrm>
          <a:prstGeom prst="roundRect">
            <a:avLst>
              <a:gd name="adj" fmla="val 360023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992267" y="54800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587579" y="520326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ARIMA / SARIMA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587579" y="5546527"/>
            <a:ext cx="676263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AutoRegressive Integrated Moving Average (ARIMA) and Seasonal ARIMA (SARIMA) combine AR, MA, and differencing to handle trends and seasonality.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93790" y="6372106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434348"/>
          </a:solidFill>
          <a:ln/>
        </p:spPr>
      </p:sp>
      <p:sp>
        <p:nvSpPr>
          <p:cNvPr id="18" name="Text 15"/>
          <p:cNvSpPr/>
          <p:nvPr/>
        </p:nvSpPr>
        <p:spPr>
          <a:xfrm>
            <a:off x="992267" y="669952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587579" y="6530816"/>
            <a:ext cx="217503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Exponential Smoothing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587579" y="6874073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that assign exponentially decreasing weights to observations as they get older.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95551"/>
            <a:ext cx="6826091" cy="439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Operating Principles of Traditional Models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58071" y="1316950"/>
            <a:ext cx="1311425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models operate under specific assumptions that simplify the forecasting problem, making them effective in certain scenarios but limited in others.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1" y="1858804"/>
            <a:ext cx="4150519" cy="41505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071" y="6167676"/>
            <a:ext cx="281309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Assume Linear Relationships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8071" y="6572369"/>
            <a:ext cx="6385441" cy="45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models primarily capture linear dependencies between past and future data points, struggling with complex, non-linear dynamics.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508" y="1858804"/>
            <a:ext cx="4150519" cy="41505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4508" y="6167676"/>
            <a:ext cx="2324695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 Stationary Data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94508" y="6572369"/>
            <a:ext cx="6385441" cy="45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traditional models perform best when the statistical properties of the time series (mean, variance) remain constant over time, often requiring data transformation.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9169" y="7466052"/>
            <a:ext cx="12903160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parameter tuning is often necessary, requiring expert knowledge to determine the optimal model orders and settings.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58071" y="7307699"/>
            <a:ext cx="15240" cy="541853"/>
          </a:xfrm>
          <a:prstGeom prst="rect">
            <a:avLst/>
          </a:prstGeom>
          <a:solidFill>
            <a:srgbClr val="FDC4C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72716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Advantages of Traditional Forecasting Models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266831"/>
            <a:ext cx="3681770" cy="2807018"/>
          </a:xfrm>
          <a:prstGeom prst="roundRect">
            <a:avLst>
              <a:gd name="adj" fmla="val 1030"/>
            </a:avLst>
          </a:prstGeom>
          <a:solidFill>
            <a:srgbClr val="434348"/>
          </a:solidFill>
          <a:ln/>
        </p:spPr>
      </p:sp>
      <p:sp>
        <p:nvSpPr>
          <p:cNvPr id="5" name="Shape 2"/>
          <p:cNvSpPr/>
          <p:nvPr/>
        </p:nvSpPr>
        <p:spPr>
          <a:xfrm>
            <a:off x="6472952" y="2459593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FDC4C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2019" y="2618661"/>
            <a:ext cx="260271" cy="260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72952" y="3230761"/>
            <a:ext cx="276272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and Interpretable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72952" y="3647599"/>
            <a:ext cx="32962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mathematical foundations are straightforward, making results easy to understand and explain.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154722" y="2266831"/>
            <a:ext cx="3681889" cy="2807018"/>
          </a:xfrm>
          <a:prstGeom prst="roundRect">
            <a:avLst>
              <a:gd name="adj" fmla="val 1030"/>
            </a:avLst>
          </a:prstGeom>
          <a:solidFill>
            <a:srgbClr val="434348"/>
          </a:solidFill>
          <a:ln/>
        </p:spPr>
      </p:sp>
      <p:sp>
        <p:nvSpPr>
          <p:cNvPr id="10" name="Shape 6"/>
          <p:cNvSpPr/>
          <p:nvPr/>
        </p:nvSpPr>
        <p:spPr>
          <a:xfrm>
            <a:off x="10347484" y="2459593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FDC4C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6551" y="2618661"/>
            <a:ext cx="260271" cy="2602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47484" y="3230761"/>
            <a:ext cx="297441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with Small Datasets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0347484" y="3647599"/>
            <a:ext cx="329636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even with limited historical data, unlike more complex models that require vast amounts of information.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80190" y="5266611"/>
            <a:ext cx="7556421" cy="2190274"/>
          </a:xfrm>
          <a:prstGeom prst="roundRect">
            <a:avLst>
              <a:gd name="adj" fmla="val 1320"/>
            </a:avLst>
          </a:prstGeom>
          <a:solidFill>
            <a:srgbClr val="434348"/>
          </a:solidFill>
          <a:ln/>
        </p:spPr>
      </p:sp>
      <p:sp>
        <p:nvSpPr>
          <p:cNvPr id="15" name="Shape 10"/>
          <p:cNvSpPr/>
          <p:nvPr/>
        </p:nvSpPr>
        <p:spPr>
          <a:xfrm>
            <a:off x="6472952" y="5459373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FDC4C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2019" y="5618440"/>
            <a:ext cx="260271" cy="2602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72952" y="6230541"/>
            <a:ext cx="277356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Computational Cost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72952" y="6647378"/>
            <a:ext cx="71708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Generally require less computational power and time for training and prediction, making them suitable for resource-constrained environments.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348"/>
            <a:ext cx="11801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Limitations of Traditional Forecasting Models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27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robust in specific contexts, traditional models face significant challenges when confronted with the complexities of real-world time-series data.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63873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242429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3339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30237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DC4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3227784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930848"/>
            <a:ext cx="41020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Cannot Model Non-Linear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421267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Struggle with intricate, non-linear relationships and sudden shifts often present in complex time-series data.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363873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242429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333339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30237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DC4C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3227784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930848"/>
            <a:ext cx="5258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Weak Long-Term Dependency Handling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4421267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Ineffective at capturing patterns or dependencies that span over long periods, leading to less accurate long-term forecasts.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93790" y="6022419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4A030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366510"/>
            <a:ext cx="283488" cy="2268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0906" y="630590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inability to adapt to evolving patterns and extended dependencies highlights the need for more advanced techniques in certain forecasting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2246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Introducing LSTM: A Deep Learning Solution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2316361"/>
            <a:ext cx="75564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Short-Term Memory (LSTM) networks represent a significant leap forward in time-series forecasting, especially for complex and long sequences.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80190" y="3149918"/>
            <a:ext cx="3681770" cy="2337078"/>
          </a:xfrm>
          <a:prstGeom prst="roundRect">
            <a:avLst>
              <a:gd name="adj" fmla="val 19799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6472952" y="3342680"/>
            <a:ext cx="32962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Long Short-Term Memory (LSTM) Network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72952" y="4060746"/>
            <a:ext cx="3296245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specialized kind of Recurrent Neural Network (RNN) designed to remember information for extended periods.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4722" y="3149918"/>
            <a:ext cx="3681889" cy="2337078"/>
          </a:xfrm>
          <a:prstGeom prst="roundRect">
            <a:avLst>
              <a:gd name="adj" fmla="val 19799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10347484" y="3342680"/>
            <a:ext cx="329636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 of Recurrent Neural Network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347484" y="4060746"/>
            <a:ext cx="329636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LSTMs excel at processing sequences, making them ideal for time-series, speech recognition, and language translation.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80190" y="5679758"/>
            <a:ext cx="7556421" cy="1727478"/>
          </a:xfrm>
          <a:prstGeom prst="roundRect">
            <a:avLst>
              <a:gd name="adj" fmla="val 26786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6472952" y="5872520"/>
            <a:ext cx="39270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Solves Vanishing Gradient Problem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72952" y="6289358"/>
            <a:ext cx="7170896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LSTMs overcome a critical limitation of traditional RNNs, allowing them to learn and retain information over very long sequences without forgetting past insights.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5066" y="597337"/>
            <a:ext cx="7626667" cy="128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Internal Mechanism of LSTM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45066" y="2193250"/>
            <a:ext cx="7626667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the core of an LSTM's power are its "gates," which regulate the flow of information, allowing it to selectively remember or forget past data.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66" y="3084076"/>
            <a:ext cx="1029653" cy="1516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80578" y="3289935"/>
            <a:ext cx="257436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Forget Gate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480578" y="3735110"/>
            <a:ext cx="639115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Decides what information to discard from the cell state, preventing information overload.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66" y="4600099"/>
            <a:ext cx="1029653" cy="1516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80578" y="4805958"/>
            <a:ext cx="257436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Gate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480578" y="5251133"/>
            <a:ext cx="639115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which new information is relevant to store in the cell state.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066" y="6116122"/>
            <a:ext cx="1029653" cy="1516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80578" y="6321981"/>
            <a:ext cx="257436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 Gate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480578" y="6767155"/>
            <a:ext cx="639115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what information from the cell state is outputted at a given timestep.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6308"/>
            <a:ext cx="733151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Advantages of LSTM Networks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775460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LSTMs offer distinct advantages that make them particularly well-suited for complex time-series forecasting tasks.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3790" y="2560082"/>
            <a:ext cx="22860" cy="4733092"/>
          </a:xfrm>
          <a:prstGeom prst="roundRect">
            <a:avLst>
              <a:gd name="adj" fmla="val 119070"/>
            </a:avLst>
          </a:prstGeom>
          <a:solidFill>
            <a:srgbClr val="5C5C61"/>
          </a:solidFill>
          <a:ln/>
        </p:spPr>
      </p:sp>
      <p:sp>
        <p:nvSpPr>
          <p:cNvPr id="6" name="Shape 3"/>
          <p:cNvSpPr/>
          <p:nvPr/>
        </p:nvSpPr>
        <p:spPr>
          <a:xfrm>
            <a:off x="816650" y="2560082"/>
            <a:ext cx="7556421" cy="1335762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7" name="Text 4"/>
          <p:cNvSpPr/>
          <p:nvPr/>
        </p:nvSpPr>
        <p:spPr>
          <a:xfrm>
            <a:off x="998101" y="2741533"/>
            <a:ext cx="305181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Handles Non-Linear Patterns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98101" y="3133844"/>
            <a:ext cx="71935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traditional models, LSTMs can inherently learn and model complex non-linear relationships within 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6650" y="4258747"/>
            <a:ext cx="7556421" cy="1335762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0" name="Text 7"/>
          <p:cNvSpPr/>
          <p:nvPr/>
        </p:nvSpPr>
        <p:spPr>
          <a:xfrm>
            <a:off x="998101" y="4440198"/>
            <a:ext cx="374594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Captures Long-Term Dependencies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98101" y="4832509"/>
            <a:ext cx="71935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unique architecture allows them to retain and utilize information from distant past observations, critical for many real-world scenarios.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6650" y="5957411"/>
            <a:ext cx="7556421" cy="1335762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3" name="Text 10"/>
          <p:cNvSpPr/>
          <p:nvPr/>
        </p:nvSpPr>
        <p:spPr>
          <a:xfrm>
            <a:off x="998101" y="613886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Accuracy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98101" y="6531173"/>
            <a:ext cx="71935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achieve superior prediction accuracy on complex, real-world time-series datasets due to their ability to learn intricate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86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 Charting the Future of Time-Series Forecasting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60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summary, both traditional models and LSTM networks offer unique strengths for time-series analysis. Choosing the right approach depends on the complexity of your data and your specific interpretability needs.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570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5" name="Text 3"/>
          <p:cNvSpPr/>
          <p:nvPr/>
        </p:nvSpPr>
        <p:spPr>
          <a:xfrm>
            <a:off x="878860" y="36995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734872"/>
            <a:ext cx="5036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Models: Simple but Limited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225290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straightforward data, offering interpretability, but struggle with complex non-linear patterns and long-term dependencies.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36570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9" name="Text 7"/>
          <p:cNvSpPr/>
          <p:nvPr/>
        </p:nvSpPr>
        <p:spPr>
          <a:xfrm>
            <a:off x="7541955" y="36995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000" y="3734872"/>
            <a:ext cx="4107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LSTMs: Excelling in Complexity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94000" y="4225290"/>
            <a:ext cx="56426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advanced architecture effectively handles intricate non-linear relationships and captures long-term dependencies, achieving high accuracy for complex data.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1305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3" name="Text 11"/>
          <p:cNvSpPr/>
          <p:nvPr/>
        </p:nvSpPr>
        <p:spPr>
          <a:xfrm>
            <a:off x="878860" y="61730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6208395"/>
            <a:ext cx="2917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Data-Driven Selection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6698813"/>
            <a:ext cx="12305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traditional models for simple data and interpretability, and LSTMs for volatile, non-linear, or long-sequence data to unlock deeper insights.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2026-01-04T06:15:23Z</dcterms:created>
  <dcterms:modified xsi:type="dcterms:W3CDTF">2026-01-04T06:15:23Z</dcterms:modified>
</cp:coreProperties>
</file>